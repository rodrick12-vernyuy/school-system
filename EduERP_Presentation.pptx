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Greet the panel and introduce the project: a working ERP for an educational institution, built with microservices.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outline quickly; the talk follows a normal project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one integrated system helps: no re-entering data, controlled access, parts that can change independently, consistent payments.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objective is met by a specific part of the system; we will see them in the following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one-slide answer to "what is your system about".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roles stored with the account and carried in the login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Academic Service manages the academic life of the institution and also hosts the login system, because every user is a member of the institution.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Finance Service handles money coming in and going out, and also the marketing campaigns of the institution.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HR Service manages the people who work for the institution and the equipment they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and access control are provided by the Academic Service and enforced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steps as a demonstration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steps as a demonstration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steps as a demonstration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difference between synchronous and asynchronous communication in plain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containers on one Compose network. Point out the gateway on 4000, the three services on 4001-4003, three databases, and RabbitMQ. Academic publishes, Finance consumes, HR has no broker.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listed appears in package.json files, Dockerfiles or docker-compose.yml.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requirement has an ID and cites the code that implements it; the full tables are in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Actors are the four real roles (student, staff, admin, super_admin). Generalization admin &gt; staff and super_admin &gt; admin reflects the API role lists. "Lock account" extends "Log in" (5 failed attempts). Implementation: authRoutes.js, authController.js, healthRoutes.js. Admin may create staff only; super_admin may create any staff-level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Enrolling includes the prerequisite/capacity check and triggers the STUDENT_ENROLLED event consumed by the Finance Service. Implementation: Routes under /academic (students, courses, enrollments, grades, attendance, exams, appeals). Delete course and deactivate student are admin-only.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invoice is created by the Finance Service itself from a RabbitMQ event; paying an invoice includes issuing a receipt. Implementation: invoiceService.js, paymentController.js, expense/report/campaign controllers. Marketing = campaigns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HR functions are available to staff-level roles at API level; updating payroll rates and deactivating employees are admin-only. Implementation: Routes under /hr. The web UI restricts several pages to admin/super_admin.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Domain classes mirror the academic_db tables; service and controller classes show the main application logic (authentication, at-risk evaluation, enrollment and event publishing). Implementation: schema.sql (academic), authService.js, riskService.js, enrollmentController.js, eventPublisher.js. Composition User-RefreshToken reflects ON DELETE CASCADE.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Invoice aggregates payments and receipts. studentId and sourceEnrollmentId are logical references to academic data, copied from the event. Implementation: schema.sql (finance), invoiceService.js, paymentController.js, mockPaymentGateway.js, campaignController.js (conversionRate and roi are derived).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Employee is the aggregate root for payroll runs, attendance, leave and performance reviews; assets may be assigned to an employee. Implementation: schema.sql (hr), payrollService.js. PayrollConfig is a singleton row read during payroll calculation.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tables including the identity tables (users, refresh_tokens). Audit columns graded_by, recorded_by and reviewed_by reference users. Implementation: services/academic-service/src/db/schema.sql.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Invoices, payments, receipts, expenses, campaigns and the processed_events idempotency table. No foreign key leaves this database. Implementation: services/finance-service/src/db/schema.sql.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Employees and their payroll runs, attendance, leave and performance reviews; assets optionally assigned to an employee; payroll_config singleton; recruitment standalone. Implementation: services/hr-service/src/db/schema.sql.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Synchronous example: paying an invoice. Follow the arrows from the browser to nginx, gateway, finance service and database. Note the double token check and the database transaction.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Asynchronous example: enrollment publishes STUDENT_ENROLLED; the Finance Service consumes it from queue finance.student-enrolled and creates the invoice once (idempotent).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bcrypt, lockout, token rotation and defence in depth (gateway plus service checks).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clearly that 44 automated tests pass and that screens were checked manually.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live demo: log in as student, enroll, then show the invoice appearing.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open about the limits: these are documented in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EduERP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Microservices ERP System for Educational Institutions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 |  Marketing &amp; Finance  |  Administration &amp; Human Resources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51206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 -  25 September 2026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____________________     Supervisor: ____________________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Background and problem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Objectives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EduERP is: users and modules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How it works: a student's journey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Architecture and deployment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Requirements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Design models: use cases, classes, ERD, sequences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Implementation, security and testing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Demonstration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Limitations, future work and conclusion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and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institutions run several kinds of activity at the same time.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EduERP was developed as an academic project to show how these areas can be combined in a single, secure, modern system built with the architecture that large organisations use today: independent services that own their data and talk to each other through well-defined interfaces.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tools for academics, finance and HR lead to duplicated data entry and delays. A student who enrolls in a course must then be billed manually.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need different levels of access. A student must not see payroll screens and a clerk must not be able to create administrators, so access control must be built in.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large application is hard to change: a fault or a change in the payroll code should not stop enrollment. The institution needs parts that can be developed, tested and deployed separately.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actions such as payments must be consistent: a payment must never be recorded without the matching invoice update and receipt.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one integrated platform for academic, marketing and finance, and administration and HR operations.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microservices architecture: separate services, one database per service, one public entry point (API Gateway).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the system with JWT authentication, refresh-token rotation, account lockout and role-based authorization.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tuition billing: enrolling a student must trigger invoice creation in the Finance Service through a message broker, without manual work.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simulated mobile-money payments (MTN MoMo and Orange Money) with receipts.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HR processes: employee records, recruitment, payroll calculation, QR-code attendance, leave requests, performance reviews and asset tracking.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system easy to run and verify: one-command container deployment, automated tests and a continuous-integration pipeline.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EduERP?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application that runs academic, financial and HR work of an institution in one place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log in and see a menu that depends on their role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business services + one gateway: Academic, Marketing &amp; Finance, Administration &amp; HR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owns its own PostgreSQL database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automatically creates a tuition invoice through a message broker (RabbitMQ)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9 Docker containers with one command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roles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77240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role does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menu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59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Registers an account, enrolls in courses, views own courses, grades, GPA and attendance, sees at-risk status, views invoices, pays tuition by simulated mobile money, submits grade appeals.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Menu: My Dashboard, My Courses, My Invoices &amp; Payments, Grade Appeals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day-to-day academic operations (students, courses, grades, attendance, exams, appeals), scans QR attendance and handles leave requests in the web interface.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Menu: 7 entries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functions like staff, plus finance (invoices, expenses, reports) and HR (employees, recruitment, payroll, leave) screens, deletions and deactivations, payroll-rate updates and creation of staff accounts.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Menu: 12 entries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Admin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admin screens, plus QR attendance, marketing campaigns, asset management, creation of admin and super-admin accounts and a service-health view.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Menu: 15 entries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module (Academic Service)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records: staff create and update students (student number, name, e-mail, programme, level, status) and admins can deactivate them. A student who registers online gets a profile automatically.</a:t>
            </a:r>
            <a:endParaRPr lang="en-US" sz="16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Courses: each course has a code, title, credits and a capacity. A course can have prerequisite courses.</a:t>
            </a:r>
            <a:endParaRPr lang="en-US" sz="16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Enrollment: a student can enroll only if the prerequisites are passed, the course is not full and the student is not already enrolled. A successful enrollment publishes an event to the Finance Service. Students can also drop a course.</a:t>
            </a:r>
            <a:endParaRPr lang="en-US" sz="16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Grades: staff enter a score from 0 to 100; the system assigns the letter grade (A from 90, B from 80, C from 70, D from 60, E from 50, F below) and marks 50 and above as passing. A credit-weighted GPA is calculated.</a:t>
            </a:r>
            <a:endParaRPr lang="en-US" sz="16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Attendance: staff record present, absent or late for each student, course and date; the attendance percentage is calculated.</a:t>
            </a:r>
            <a:endParaRPr lang="en-US" sz="16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detection: a student is flagged when attendance is below 75% or when two failing grades occur in a row.</a:t>
            </a:r>
            <a:endParaRPr lang="en-US" sz="16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Examinations: staff schedule exams; the system refuses a room that is already booked for an overlapping time.</a:t>
            </a:r>
            <a:endParaRPr lang="en-US" sz="16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appeals: a student can appeal one of their own grades; staff approve or reject each appeal once.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Finance module (Finance Service)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invoicing: when the Academic Service announces a new enrollment, the Finance Service creates an invoice numbered INV-year-number. The amount is the course credits multiplied by a per-credit rate (15,000 FCFA by default) and it is due in 30 days.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Payments: a student pays an invoice through a simulated MTN MoMo or Orange Money charge. Partial payments are allowed; an amount larger than the balance is refused. The invoice status becomes partially paid or paid.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Receipts: every successful payment produces a numbered receipt (RCT-year-number).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invoices: staff can mark unpaid invoices past their due date as overdue.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Expenses: staff record, edit and delete institutional expenses by category.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 daily and monthly income and expense summaries, outstanding fees and an expense report, all in FCFA.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campaigns: staff record a campaign with dates and budget and update its leads, conversions and revenue; the system calculates the conversion rate and the return on investment (ROI).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&amp; HR module (HR Service)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Employees: records with department, position, salary and status. Each employee receives a unique QR token.</a:t>
            </a:r>
            <a:endParaRPr lang="en-US" sz="16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Recruitment: candidates are tracked through the stages applied, interview, selected and rejected.</a:t>
            </a:r>
            <a:endParaRPr lang="en-US" sz="16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Payroll: for a chosen employee and month the system computes gross pay (basic salary plus allowances), the CNPS and PAYE deductions from configurable rates, and the net pay. Admins can change the rates.</a:t>
            </a:r>
            <a:endParaRPr lang="en-US" sz="16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attendance: scanning an employee's QR token records a check-in, once per employee per day.</a:t>
            </a:r>
            <a:endParaRPr lang="en-US" sz="16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Leave: requests are submitted and then approved or rejected by staff.</a:t>
            </a:r>
            <a:endParaRPr lang="en-US" sz="16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reviews: a score from 0 to 10 with comments can be recorded for an employee.</a:t>
            </a:r>
            <a:endParaRPr lang="en-US" sz="16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Assets: equipment is recorded with category, value and status, and can be assigned to an employee.</a:t>
            </a:r>
            <a:endParaRPr lang="en-US" sz="16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a summary of active employees, check-ins today, pending leave, average performance and number of assets.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administration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Registration: anyone can register, but a public registration always creates a student account. Staff-level accounts can only be created by a logged-in admin (staff accounts) or super admin (any role).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passwords are checked against a bcrypt hash. After five wrong attempts the account is locked for 15 minutes. The system returns a 15-minute access token and a 7-day refresh token.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refresh and logout: refresh tokens are stored only as hashes, are replaced each time they are used, and are revoked on logout.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the API Gateway and every service each verify the token and check the user's role on every protected route.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health: the super admin can see whether the three services are running.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1: from enrollment to receipt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student registers on the web page and logs in.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opens My Courses and enrolls in a course. The Academic Service checks prerequisites and capacity and saves the enrollment.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Academic Service publishes a STUDENT_ENROLLED event to RabbitMQ and immediately confirms the enrollment to the student.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Finance Service receives the event and creates a tuition invoice (credits x 15,000 FCFA) without any human action.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opens My Invoices &amp; Payments, chooses MTN MoMo or Orange Money, enters a phone number and pays. The invoice is updated and a receipt is issued.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2: teaching staff and grades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record attendance for a class and enter grades for enrolled students.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calculates letter grades and GPA and flags students who fall below 75% attendance or fail twice in a row.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disagrees with a grade submits an appeal; staff approve or reject it.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3: HR and payroll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admin registers an employee; the system generates a QR token.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day the employee is checked in by scanning the QR token.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month end an admin runs payroll for the employee and the system stores gross pay, CNPS, PAYE and net pay for that month.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Microservices: small services, one business area each, one database each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public entry point: the API Gateway (/api/v1) checks the token, limits requests and routes to the right service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Synchronous: normal HTTP requests for almost every screen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Asynchronous: RabbitMQ carries the enrollment event so billing never blocks enrollment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is issued by the Academic Service; Finance and HR verify the token themselves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Diagram - Docker Compose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pic>
        <p:nvPicPr>
          <p:cNvPr id="5" name="Image 0" descr="C:\Users\KENKO WILFRED\OneDrive\Desktop\school\docs\final\img\05-deploy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8483" y="960120"/>
            <a:ext cx="4871985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containers on one Compose network: nginx frontend, gateway, three services, RabbitMQ and three PostgreSQL databases, with ports, protocols and communication direction.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052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Technologies used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59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20 (Alpine), Express 4, pg (raw SQL), amqplib, jsonwebtoken, bcryptjs, helmet, express-rate-limit, express-validator, swagger-ui-express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 + http-proxy-middleware, JWT edge verification, rate limiting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18, Vite 5, react-router 6, axios, served by nginx 1.27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16 (three instances), RabbitMQ 3.13 (topic exchange)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Docker, Docker Compose, GitHub Actions CI, Jest + Supertest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at a glance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6675120"/>
                <a:gridCol w="237744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requirements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59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 / Authorization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FR-001 to FR-013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Service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FR-014 to FR-032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&amp; Finance Service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FR-033 to FR-041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Administration &amp; HR Service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FR-042 to FR-053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Inter-service communication and Web front-end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FR-054 to FR-060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Non-functional (security, integrity, reliability, observability...)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NFR-001 to NFR-021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Diagram 1/4 - Authentication &amp; Administration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pic>
        <p:nvPicPr>
          <p:cNvPr id="5" name="Image 0" descr="C:\Users\KENKO WILFRED\OneDrive\Desktop\school\docs\final\img\01a-usecase-au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8610" y="960120"/>
            <a:ext cx="6431733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are the four real roles (student, staff, admin, super_admin). Generalization admin &gt; staff and super_admin &gt; admin reflects the API role lists. "Lock account" extends "Log in" (5 failed attempts).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Diagram 2/4 - Academic Service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pic>
        <p:nvPicPr>
          <p:cNvPr id="5" name="Image 0" descr="C:\Users\KENKO WILFRED\OneDrive\Desktop\school\docs\final\img\01b-usecase-acade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3731" y="960120"/>
            <a:ext cx="3241489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Enrolling includes the prerequisite/capacity check and triggers the STUDENT_ENROLLED event consumed by the Finance Service.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Diagram 3/4 - Marketing &amp; Finance Service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pic>
        <p:nvPicPr>
          <p:cNvPr id="5" name="Image 0" descr="C:\Users\KENKO WILFRED\OneDrive\Desktop\school\docs\final\img\01c-usecase-fi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0578" y="960120"/>
            <a:ext cx="4767796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invoice is created by the Finance Service itself from a RabbitMQ event; paying an invoice includes issuing a receipt.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Diagram 4/4 - Administration &amp; HR Service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pic>
        <p:nvPicPr>
          <p:cNvPr id="5" name="Image 0" descr="C:\Users\KENKO WILFRED\OneDrive\Desktop\school\docs\final\img\01d-usecase-h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0004" y="960120"/>
            <a:ext cx="2208944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HR functions are available to staff-level roles at API level; updating payroll rates and deactivating employees are admin-only.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1/3 - Academic Service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pic>
        <p:nvPicPr>
          <p:cNvPr id="5" name="Image 0" descr="C:\Users\KENKO WILFRED\OneDrive\Desktop\school\docs\final\img\02a-class-acade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1813" y="960120"/>
            <a:ext cx="4345327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classes mirror the academic_db tables; service and controller classes show the main application logic (authentication, at-risk evaluation, enrollment and event publishing).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2/3 - Marketing &amp; Finance Service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pic>
        <p:nvPicPr>
          <p:cNvPr id="5" name="Image 0" descr="C:\Users\KENKO WILFRED\OneDrive\Desktop\school\docs\final\img\02b-class-fi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8931" y="960120"/>
            <a:ext cx="6111089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aggregates payments and receipts. studentId and sourceEnrollmentId are logical references to academic data, copied from the event.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3/3 - Administration &amp; HR Service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pic>
        <p:nvPicPr>
          <p:cNvPr id="5" name="Image 0" descr="C:\Users\KENKO WILFRED\OneDrive\Desktop\school\docs\final\img\02c-class-h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" y="960120"/>
            <a:ext cx="11338560" cy="28279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is the aggregate root for payroll runs, attendance, leave and performance reviews; assets may be assigned to an employee.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1/3 - academic_db (Academic Service)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pic>
        <p:nvPicPr>
          <p:cNvPr id="5" name="Image 0" descr="C:\Users\KENKO WILFRED\OneDrive\Desktop\school\docs\final\img\04a-erd-acade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7923" y="960120"/>
            <a:ext cx="4993105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tables including the identity tables (users, refresh_tokens). Audit columns graded_by, recorded_by and reviewed_by reference users.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2/3 - finance_db (Marketing &amp; Finance Service)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pic>
        <p:nvPicPr>
          <p:cNvPr id="5" name="Image 0" descr="C:\Users\KENKO WILFRED\OneDrive\Desktop\school\docs\final\img\04b-erd-fi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6476" y="960120"/>
            <a:ext cx="741600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payments, receipts, expenses, campaigns and the processed_events idempotency table. No foreign key leaves this database.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3/3 - hr_db (Administration &amp; HR Service)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pic>
        <p:nvPicPr>
          <p:cNvPr id="5" name="Image 0" descr="C:\Users\KENKO WILFRED\OneDrive\Desktop\school\docs\final\img\04c-erd-h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" y="960120"/>
            <a:ext cx="11338560" cy="27309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and their payroll runs, attendance, leave and performance reviews; assets optionally assigned to an employee; payroll_config singleton; recruitment standalone.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- Synchronous workflow: paying an invoice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pic>
        <p:nvPicPr>
          <p:cNvPr id="5" name="Image 0" descr="C:\Users\KENKO WILFRED\OneDrive\Desktop\school\docs\final\img\03-sequence-sy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9087" y="960120"/>
            <a:ext cx="6350778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to nginx to API Gateway to finance-service to finance_db and back, with JWT verification at the gateway and in the service, validation, a row-locked transaction and the simulated payment gateway.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- Asynchronous workflow: STUDENT_ENROLLED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pic>
        <p:nvPicPr>
          <p:cNvPr id="5" name="Image 0" descr="C:\Users\KENKO WILFRED\OneDrive\Desktop\school\docs\final\img\04-sequence-asy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9566" y="960120"/>
            <a:ext cx="732982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academic-service publishes to exchange eduerp.events with key student.enrolled; queue finance.student-enrolled delivers it to finance-service, which creates the invoice idempotently and acks. Failures are nacked without requeue.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measures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bcrypt (12 rounds); never stored or logged in plain text.</a:t>
            </a:r>
            <a:endParaRPr lang="en-US" sz="19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access tokens (15 minutes); refresh tokens stored as SHA-256 hashes, rotated on use and revoked on logout.</a:t>
            </a:r>
            <a:endParaRPr lang="en-US" sz="19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lockout after 5 failed logins for 15 minutes; the same message is returned for unknown e-mail and wrong password.</a:t>
            </a:r>
            <a:endParaRPr lang="en-US" sz="19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authorization on every protected route, at the gateway and again in each service.</a:t>
            </a:r>
            <a:endParaRPr lang="en-US" sz="19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limiting: 200 requests per minute at the gateway, 20 login attempts per 15 minutes, 300 per minute in each service.</a:t>
            </a:r>
            <a:endParaRPr lang="en-US" sz="19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 (helmet), CORS restricted to the front-end address, input validation with express-validator, parameterized SQL queries, request size limit of 1 MB.</a:t>
            </a:r>
            <a:endParaRPr lang="en-US" sz="19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integrity: foreign keys, unique and check constraints; payments applied in one locked transaction.</a:t>
            </a:r>
            <a:endParaRPr lang="en-US" sz="1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quality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use Jest and Supertest, with the database and RabbitMQ replaced by mocks so they run anywhere.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on 25 September 2026: 44 tests pass - API Gateway 5, Academic Service 19, Finance Service 10, HR Service 10.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Covered: registration and password rules, password hashing and tokens, enrollment with event publishing and capacity, at-risk rules, invoice creation and idempotency, simulated payments and receipts, campaign metrics, payroll calculation, leave workflow, QR attendance and gateway authentication.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GitHub Actions pipeline runs all backend tests, builds the front end and builds every Docker image on each push and pull request.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and the remaining endpoints were checked manually; they have no automated tests.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Docker Desktop, copy .env.example to .env (optional; safe development defaults are built in).</a:t>
            </a:r>
            <a:endParaRPr lang="en-US" sz="19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project folder run: docker compose up --build</a:t>
            </a:r>
            <a:endParaRPr lang="en-US" sz="19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web application at http://localhost:5173</a:t>
            </a:r>
            <a:endParaRPr lang="en-US" sz="19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documentation (Swagger) is at http://localhost:4000/docs; the RabbitMQ management page is at http://localhost:15672.</a:t>
            </a:r>
            <a:endParaRPr lang="en-US" sz="19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accounts (one per role) are created automatically: superadmin@eduerp.test, admin@eduerp.test, staff@eduerp.test, student@eduerp.test. Their password is set in services/academic-service/src/db/seed.js and is for development only.</a:t>
            </a:r>
            <a:endParaRPr lang="en-US" sz="1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486400" cy="457200"/>
          </a:xfrm>
          <a:prstGeom prst="rect">
            <a:avLst/>
          </a:prstGeom>
          <a:solidFill>
            <a:srgbClr val="2E559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are simulated: a phone number ending in 0000 is declined, every other valid number succeeds. No real telecom API is called.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is a flat rate per credit; a real fee schedule per programme is not modelled.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rates (CNPS 4.20%, PAYE 10.00%) are configurable placeholders, not verified legal rates.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events are sent fire-and-forget: if RabbitMQ is down at that moment, the enrollment succeeds but the invoice is not created later (no outbox).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that fails in the Finance Service is discarded; there is no dead-letter queue. The queue is created by the Finance Service, so events sent before it first starts are lost.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is not checked on several student-facing endpoints, and HR payroll, leave and performance lookups are open to any logged-in user.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143000"/>
            <a:ext cx="5486400" cy="457200"/>
          </a:xfrm>
          <a:prstGeom prst="rect">
            <a:avLst/>
          </a:prstGeom>
          <a:solidFill>
            <a:srgbClr val="2E5597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1430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0" y="16916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real mobile-money provider and add payment webhooks.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transactional outbox and a dead-letter queue so no event can be lost.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ownership rules so students see only their own data and HR employee data is limited to HR roles.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PDF transcripts, receipts and reports, and e-mail or SMS notifications.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employees to login accounts and add a screen for performance reviews.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HTTPS, service replication, monitoring dashboards and performance tests.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covers academic, finance/marketing and HR work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services with their own databases, behind one secured gateway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triggers billing automatically through RabbitMQ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security and 44 passing automated tests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checked against the source code; limits stated openly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EduERP - Project Presentation</dc:title>
  <dc:subject>PptxGenJS Presentation</dc:subject>
  <dc:creator>PptxGenJS</dc:creator>
  <cp:lastModifiedBy>PptxGenJS</cp:lastModifiedBy>
  <cp:revision>1</cp:revision>
  <dcterms:created xsi:type="dcterms:W3CDTF">2026-09-25T14:54:56Z</dcterms:created>
  <dcterms:modified xsi:type="dcterms:W3CDTF">2026-09-25T14:54:56Z</dcterms:modified>
</cp:coreProperties>
</file>